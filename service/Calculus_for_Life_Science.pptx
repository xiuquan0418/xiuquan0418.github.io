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Calculus for Life Science</a:t>
            </a:r>
            <a:endParaRPr lang="en-US" sz="3600" dirty="0"/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609600" y="22139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Xiuquan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Wang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00" baseline="0" dirty="0" smtClean="0">
                <a:latin typeface="+mj-lt"/>
                <a:ea typeface="+mj-ea"/>
                <a:cs typeface="+mj-cs"/>
              </a:rPr>
              <a:t>Department</a:t>
            </a:r>
            <a:r>
              <a:rPr lang="en-US" sz="2900" dirty="0" smtClean="0">
                <a:latin typeface="+mj-lt"/>
                <a:ea typeface="+mj-ea"/>
                <a:cs typeface="+mj-cs"/>
              </a:rPr>
              <a:t> of Mathematics and Computer 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Tougaloo</a:t>
            </a:r>
            <a:r>
              <a:rPr kumimoji="0" 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College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374848" y="38701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Information: Syllabus</a:t>
            </a:r>
            <a:endParaRPr 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Introduction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Why Calculus is needed for Biology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Mathematics Models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Linear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Models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Best Square Analysis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Allometric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Model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sz="2800" dirty="0" smtClean="0"/>
              <a:t>Discrete Dynamic Models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of the Course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/>
            <a:r>
              <a:rPr lang="en-US" altLang="zh-CN" dirty="0" smtClean="0"/>
              <a:t>Lecture</a:t>
            </a:r>
            <a:endParaRPr lang="en-US" dirty="0" smtClean="0"/>
          </a:p>
          <a:p>
            <a:pPr lvl="1"/>
            <a:r>
              <a:rPr lang="en-US" dirty="0" smtClean="0"/>
              <a:t>developing skills through mental activity </a:t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Computer Lab</a:t>
            </a:r>
          </a:p>
          <a:p>
            <a:pPr lvl="1"/>
            <a:r>
              <a:rPr lang="en-US" dirty="0" smtClean="0"/>
              <a:t>Manage more complex (realistic) problems and data </a:t>
            </a:r>
            <a:r>
              <a:rPr lang="en-US" dirty="0" err="1" smtClean="0"/>
              <a:t>ﬁtting</a:t>
            </a:r>
            <a:endParaRPr lang="en-US" dirty="0" smtClean="0"/>
          </a:p>
          <a:p>
            <a:pPr lvl="1"/>
            <a:r>
              <a:rPr lang="en-US" dirty="0" smtClean="0"/>
              <a:t>Use Excel to help solve these problems</a:t>
            </a:r>
          </a:p>
          <a:p>
            <a:pPr lvl="1"/>
            <a:r>
              <a:rPr lang="en-US" smtClean="0"/>
              <a:t> Lab </a:t>
            </a:r>
            <a:r>
              <a:rPr lang="en-US" dirty="0" smtClean="0"/>
              <a:t>Report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Introduction </a:t>
            </a:r>
            <a:br>
              <a:rPr lang="en-US" dirty="0" smtClean="0"/>
            </a:br>
            <a:r>
              <a:rPr lang="en-US" sz="3600" dirty="0" smtClean="0"/>
              <a:t> Why Calculus is Needed for Biology</a:t>
            </a:r>
            <a:endParaRPr 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8229600" cy="4494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Introduction – Mathematical Biology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9112" y="1484784"/>
            <a:ext cx="8105775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Introduction – Mathematical Model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8162" y="1628800"/>
            <a:ext cx="8067675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487" y="1628800"/>
            <a:ext cx="820102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Introduction – Mathematical Model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– AIDS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en-US" dirty="0" smtClean="0"/>
              <a:t>Biological Information</a:t>
            </a:r>
          </a:p>
          <a:p>
            <a:pPr lvl="1"/>
            <a:r>
              <a:rPr lang="en-US" sz="2000" dirty="0" smtClean="0"/>
              <a:t>The numbers of AIDS cases grew and spread rapidly in the early years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2420888"/>
            <a:ext cx="4475584" cy="3613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AIDS - </a:t>
            </a:r>
            <a:r>
              <a:rPr lang="en-US" dirty="0" err="1" smtClean="0"/>
              <a:t>Allometric</a:t>
            </a:r>
            <a:r>
              <a:rPr lang="en-US" dirty="0" smtClean="0"/>
              <a:t> Model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/>
          <a:lstStyle/>
          <a:p>
            <a:r>
              <a:rPr lang="en-US" dirty="0" smtClean="0"/>
              <a:t>Mathematical Model</a:t>
            </a:r>
          </a:p>
          <a:p>
            <a:pPr lvl="1"/>
            <a:r>
              <a:rPr lang="en-US" sz="2400" dirty="0" smtClean="0"/>
              <a:t>Power Law </a:t>
            </a:r>
            <a:r>
              <a:rPr lang="en-US" altLang="zh-CN" sz="2400" dirty="0" smtClean="0"/>
              <a:t>Model with two parameters</a:t>
            </a:r>
          </a:p>
          <a:p>
            <a:pPr lvl="1"/>
            <a:r>
              <a:rPr lang="en-US" sz="2400" dirty="0" smtClean="0"/>
              <a:t>Modeling complex biological phenomena</a:t>
            </a:r>
            <a:endParaRPr lang="en-US" altLang="zh-CN" sz="2400" dirty="0" smtClean="0"/>
          </a:p>
          <a:p>
            <a:pPr lvl="1"/>
            <a:r>
              <a:rPr lang="en-US" sz="2400" dirty="0" smtClean="0"/>
              <a:t>Easily analyzed with Least Square Analysis</a:t>
            </a:r>
          </a:p>
          <a:p>
            <a:pPr lvl="1"/>
            <a:r>
              <a:rPr lang="en-US" sz="2400" dirty="0" smtClean="0"/>
              <a:t>Simple solution with exponentials</a:t>
            </a:r>
          </a:p>
          <a:p>
            <a:pPr lvl="1"/>
            <a:r>
              <a:rPr lang="en-US" sz="2400" dirty="0" smtClean="0"/>
              <a:t>Solution </a:t>
            </a:r>
            <a:r>
              <a:rPr lang="en-US" sz="2400" dirty="0" err="1" smtClean="0"/>
              <a:t>ﬁt</a:t>
            </a:r>
            <a:r>
              <a:rPr lang="en-US" sz="2400" dirty="0" smtClean="0"/>
              <a:t> to data</a:t>
            </a:r>
          </a:p>
          <a:p>
            <a:pPr lvl="1"/>
            <a:r>
              <a:rPr lang="en-US" sz="2400" dirty="0" smtClean="0"/>
              <a:t>Parameter values indicate</a:t>
            </a:r>
          </a:p>
          <a:p>
            <a:pPr lvl="1"/>
            <a:r>
              <a:rPr lang="en-US" sz="2400" dirty="0" smtClean="0"/>
              <a:t>Easily make some predictions.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AIDS Data Analysis</a:t>
            </a:r>
            <a:endParaRPr 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457200" y="1384176"/>
            <a:ext cx="8229600" cy="2044824"/>
          </a:xfrm>
        </p:spPr>
        <p:txBody>
          <a:bodyPr/>
          <a:lstStyle/>
          <a:p>
            <a:pPr lvl="0"/>
            <a:r>
              <a:rPr lang="en-US" sz="2000" dirty="0" smtClean="0"/>
              <a:t>the data are flattening for the later years suggesting a diminished rate of increase.</a:t>
            </a:r>
          </a:p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204864"/>
            <a:ext cx="4824536" cy="3879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Models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</a:p>
          <a:p>
            <a:pPr lvl="1"/>
            <a:r>
              <a:rPr lang="en-US" dirty="0" smtClean="0"/>
              <a:t>Linear Model</a:t>
            </a:r>
          </a:p>
          <a:p>
            <a:pPr lvl="2"/>
            <a:r>
              <a:rPr lang="en-US" dirty="0" smtClean="0"/>
              <a:t>Chirping Crickets and Temperature</a:t>
            </a:r>
          </a:p>
          <a:p>
            <a:pPr lvl="1"/>
            <a:r>
              <a:rPr lang="en-US" dirty="0" smtClean="0"/>
              <a:t>Equations of Lines</a:t>
            </a:r>
          </a:p>
          <a:p>
            <a:pPr lvl="2"/>
            <a:r>
              <a:rPr lang="en-US" dirty="0" smtClean="0"/>
              <a:t>Slope – Intercept</a:t>
            </a:r>
          </a:p>
          <a:p>
            <a:pPr lvl="2"/>
            <a:r>
              <a:rPr lang="en-US" dirty="0" smtClean="0"/>
              <a:t>Point - Slope</a:t>
            </a:r>
          </a:p>
          <a:p>
            <a:pPr lvl="1"/>
            <a:r>
              <a:rPr lang="en-US" dirty="0" smtClean="0"/>
              <a:t>Metric System Conversion</a:t>
            </a:r>
          </a:p>
          <a:p>
            <a:pPr lvl="1"/>
            <a:r>
              <a:rPr lang="en-US" dirty="0" smtClean="0"/>
              <a:t>Juvenile Height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Linear Model</a:t>
            </a:r>
            <a:br>
              <a:rPr lang="en-US" dirty="0" smtClean="0"/>
            </a:br>
            <a:r>
              <a:rPr lang="en-US" sz="3100" dirty="0" smtClean="0"/>
              <a:t>Chirping Crickets and Temperature</a:t>
            </a:r>
            <a:endParaRPr lang="en-US" sz="31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9112" y="1643856"/>
            <a:ext cx="810577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750" y="6237312"/>
            <a:ext cx="78105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Fitting Linear Model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612" y="1700808"/>
            <a:ext cx="7724775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5800303"/>
            <a:ext cx="83534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Bessey</a:t>
            </a:r>
            <a:r>
              <a:rPr lang="en-US" dirty="0" smtClean="0"/>
              <a:t> Data and Linear Models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5173" y="1600200"/>
            <a:ext cx="771365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Cricket Equation as a Linear Model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28800"/>
            <a:ext cx="8229600" cy="3637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Biological Questions </a:t>
            </a:r>
            <a:br>
              <a:rPr lang="en-US" dirty="0" smtClean="0"/>
            </a:br>
            <a:r>
              <a:rPr lang="en-US" dirty="0" smtClean="0"/>
              <a:t>about the Cricket Model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How well does the line that you found fitting the </a:t>
            </a:r>
            <a:r>
              <a:rPr lang="en-US" sz="2400" dirty="0" err="1" smtClean="0"/>
              <a:t>Bessey</a:t>
            </a:r>
            <a:r>
              <a:rPr lang="en-US" sz="2400" dirty="0" smtClean="0"/>
              <a:t> &amp; </a:t>
            </a:r>
            <a:r>
              <a:rPr lang="en-US" sz="2400" dirty="0" err="1" smtClean="0"/>
              <a:t>Bessey</a:t>
            </a:r>
            <a:r>
              <a:rPr lang="en-US" sz="2400" dirty="0" smtClean="0"/>
              <a:t> data agree with the </a:t>
            </a:r>
            <a:r>
              <a:rPr lang="en-US" sz="2400" dirty="0" err="1" smtClean="0"/>
              <a:t>Dolbear</a:t>
            </a:r>
            <a:r>
              <a:rPr lang="en-US" sz="2400" dirty="0" smtClean="0"/>
              <a:t> model given above?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When can this model be applied from a practical perspective?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Over what range of temperatures is this model valid?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How accurate is the model and how might the accuracy be improved?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Biological Questions – Cricket Model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825" y="1628800"/>
            <a:ext cx="81343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Biological Questions – Cricket Model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50" y="2204864"/>
            <a:ext cx="81153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Biological Questions – Cricket Model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962" y="2153444"/>
            <a:ext cx="8220075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Biological Questions – Cricket Model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1820069"/>
            <a:ext cx="819150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Equation of Line </a:t>
            </a:r>
            <a:br>
              <a:rPr lang="en-US" dirty="0" smtClean="0"/>
            </a:br>
            <a:r>
              <a:rPr lang="en-US" sz="3100" dirty="0" smtClean="0"/>
              <a:t> Slope-Intercept Form</a:t>
            </a:r>
            <a:endParaRPr lang="en-US" sz="31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688" y="1619250"/>
            <a:ext cx="8048625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Equation of Line </a:t>
            </a:r>
            <a:br>
              <a:rPr lang="en-US" dirty="0" smtClean="0"/>
            </a:br>
            <a:r>
              <a:rPr lang="en-US" sz="3100" dirty="0" smtClean="0"/>
              <a:t>Cricket-Thermometer</a:t>
            </a:r>
            <a:endParaRPr lang="en-US" sz="3100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38071"/>
            <a:ext cx="8229600" cy="4450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Equation of Line – Point-Slope Form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7849" y="1600200"/>
            <a:ext cx="774830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Metric System Conversion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925" y="2852936"/>
            <a:ext cx="80581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– Temperature </a:t>
            </a:r>
            <a:endParaRPr lang="en-US" dirty="0"/>
          </a:p>
        </p:txBody>
      </p:sp>
      <p:pic>
        <p:nvPicPr>
          <p:cNvPr id="1536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612" y="1844824"/>
            <a:ext cx="7724775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– Temperature 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2304" y="1600200"/>
            <a:ext cx="729939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Linear Function</a:t>
            </a:r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5449" y="1600200"/>
            <a:ext cx="747310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- Inverse Line</a:t>
            </a:r>
            <a:endParaRPr lang="en-US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8622" y="1600200"/>
            <a:ext cx="800675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Juvenile Height – Data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43793"/>
            <a:ext cx="8229600" cy="4038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Juvenile Height – Graph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212" y="1701006"/>
            <a:ext cx="8029575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Juvenile Height – Linear Model</a:t>
            </a:r>
            <a:endParaRPr lang="en-US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825" y="1981994"/>
            <a:ext cx="8134350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Juvenile Height – Linear Model</a:t>
            </a:r>
            <a:endParaRPr lang="en-US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05781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Juvenile Height – Linear Model</a:t>
            </a:r>
            <a:endParaRPr lang="en-US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08111"/>
            <a:ext cx="8229600" cy="411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Juvenile Height – Linear Model</a:t>
            </a:r>
            <a:endParaRPr lang="en-US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99" y="1600200"/>
            <a:ext cx="746740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Juvenile Height – Linear Model</a:t>
            </a:r>
            <a:endParaRPr lang="en-US" dirty="0"/>
          </a:p>
        </p:txBody>
      </p:sp>
      <p:pic>
        <p:nvPicPr>
          <p:cNvPr id="2560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06686"/>
            <a:ext cx="8229600" cy="431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Juvenile Height – Model Limitations</a:t>
            </a:r>
            <a:endParaRPr 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05781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Juvenile Height </a:t>
            </a:r>
            <a:br>
              <a:rPr lang="en-US" dirty="0" smtClean="0"/>
            </a:br>
            <a:r>
              <a:rPr lang="en-US" dirty="0" smtClean="0"/>
              <a:t>– Model Improvements</a:t>
            </a:r>
            <a:endParaRPr lang="en-US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962" y="2024856"/>
            <a:ext cx="8220075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321</Words>
  <Application>Microsoft Office PowerPoint</Application>
  <PresentationFormat>On-screen Show (4:3)</PresentationFormat>
  <Paragraphs>79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宋体</vt:lpstr>
      <vt:lpstr>Arial</vt:lpstr>
      <vt:lpstr>Calibri</vt:lpstr>
      <vt:lpstr>Office 主题</vt:lpstr>
      <vt:lpstr>Calculus for Life Science</vt:lpstr>
      <vt:lpstr>Basic Information: Syllabus</vt:lpstr>
      <vt:lpstr>Design of the Course</vt:lpstr>
      <vt:lpstr>Introduction   Why Calculus is Needed for Biology</vt:lpstr>
      <vt:lpstr>Introduction – Mathematical Biology</vt:lpstr>
      <vt:lpstr>Introduction – Mathematical Model</vt:lpstr>
      <vt:lpstr>Introduction – Mathematical Model</vt:lpstr>
      <vt:lpstr>Example – AIDS</vt:lpstr>
      <vt:lpstr>AIDS - Allometric Model</vt:lpstr>
      <vt:lpstr>AIDS Data Analysis</vt:lpstr>
      <vt:lpstr>Linear Models</vt:lpstr>
      <vt:lpstr>Linear Model Chirping Crickets and Temperature</vt:lpstr>
      <vt:lpstr>Data Fitting Linear Model</vt:lpstr>
      <vt:lpstr>Bessey Data and Linear Models</vt:lpstr>
      <vt:lpstr>Cricket Equation as a Linear Model</vt:lpstr>
      <vt:lpstr>Biological Questions  about the Cricket Model</vt:lpstr>
      <vt:lpstr>Biological Questions – Cricket Model</vt:lpstr>
      <vt:lpstr>Biological Questions – Cricket Model</vt:lpstr>
      <vt:lpstr>Biological Questions – Cricket Model</vt:lpstr>
      <vt:lpstr>Biological Questions – Cricket Model</vt:lpstr>
      <vt:lpstr>Equation of Line   Slope-Intercept Form</vt:lpstr>
      <vt:lpstr>Equation of Line  Cricket-Thermometer</vt:lpstr>
      <vt:lpstr>Equation of Line – Point-Slope Form</vt:lpstr>
      <vt:lpstr>Metric System Conversion</vt:lpstr>
      <vt:lpstr>Example – Temperature </vt:lpstr>
      <vt:lpstr>Example – Temperature </vt:lpstr>
      <vt:lpstr>Inverse Linear Function</vt:lpstr>
      <vt:lpstr>Example - Inverse Line</vt:lpstr>
      <vt:lpstr>Juvenile Height – Data</vt:lpstr>
      <vt:lpstr>Juvenile Height – Graph</vt:lpstr>
      <vt:lpstr>Juvenile Height – Linear Model</vt:lpstr>
      <vt:lpstr>Juvenile Height – Linear Model</vt:lpstr>
      <vt:lpstr>Juvenile Height – Linear Model</vt:lpstr>
      <vt:lpstr>Juvenile Height – Linear Model</vt:lpstr>
      <vt:lpstr>Juvenile Height – Linear Model</vt:lpstr>
      <vt:lpstr>Juvenile Height – Model Limitations</vt:lpstr>
      <vt:lpstr>Juvenile Height  – Model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Calculus for Life Science Introduction</dc:title>
  <dc:creator>Xiuquan</dc:creator>
  <cp:lastModifiedBy>user</cp:lastModifiedBy>
  <cp:revision>13</cp:revision>
  <dcterms:created xsi:type="dcterms:W3CDTF">2016-09-08T21:48:36Z</dcterms:created>
  <dcterms:modified xsi:type="dcterms:W3CDTF">2020-09-27T18:06:56Z</dcterms:modified>
</cp:coreProperties>
</file>
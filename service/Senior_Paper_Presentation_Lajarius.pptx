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9" r:id="rId3"/>
    <p:sldId id="257" r:id="rId4"/>
    <p:sldId id="259" r:id="rId5"/>
    <p:sldId id="268" r:id="rId6"/>
    <p:sldId id="278" r:id="rId7"/>
    <p:sldId id="280" r:id="rId8"/>
    <p:sldId id="281" r:id="rId9"/>
    <p:sldId id="282" r:id="rId10"/>
    <p:sldId id="283" r:id="rId11"/>
    <p:sldId id="284" r:id="rId12"/>
    <p:sldId id="285" r:id="rId13"/>
    <p:sldId id="275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7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118920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8913" y="1143293"/>
            <a:ext cx="7034362" cy="4268965"/>
          </a:xfrm>
        </p:spPr>
        <p:txBody>
          <a:bodyPr anchor="t">
            <a:normAutofit/>
          </a:bodyPr>
          <a:lstStyle>
            <a:lvl1pPr algn="l">
              <a:lnSpc>
                <a:spcPct val="85000"/>
              </a:lnSpc>
              <a:defRPr sz="77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8914" y="5537925"/>
            <a:ext cx="7034362" cy="706355"/>
          </a:xfrm>
        </p:spPr>
        <p:txBody>
          <a:bodyPr>
            <a:normAutofit/>
          </a:bodyPr>
          <a:lstStyle>
            <a:lvl1pPr marL="0" indent="0" algn="l">
              <a:lnSpc>
                <a:spcPct val="114000"/>
              </a:lnSpc>
              <a:spcBef>
                <a:spcPts val="0"/>
              </a:spcBef>
              <a:buNone/>
              <a:defRPr sz="2000" b="0" i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88913" y="6314440"/>
            <a:ext cx="1596622" cy="365125"/>
          </a:xfrm>
        </p:spPr>
        <p:txBody>
          <a:bodyPr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00591" y="6314440"/>
            <a:ext cx="5122683" cy="365125"/>
          </a:xfrm>
        </p:spPr>
        <p:txBody>
          <a:bodyPr/>
          <a:lstStyle>
            <a:lvl1pPr algn="l"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416216"/>
            <a:ext cx="407988" cy="365125"/>
          </a:xfrm>
        </p:spPr>
        <p:txBody>
          <a:bodyPr/>
          <a:lstStyle>
            <a:lvl1pPr algn="r">
              <a:defRPr>
                <a:solidFill>
                  <a:schemeClr val="bg2"/>
                </a:solidFill>
              </a:defRPr>
            </a:lvl1pPr>
          </a:lstStyle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 title="Verticle Rule Line"/>
          <p:cNvCxnSpPr/>
          <p:nvPr/>
        </p:nvCxnSpPr>
        <p:spPr>
          <a:xfrm>
            <a:off x="773855" y="1257300"/>
            <a:ext cx="0" cy="560070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0029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4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 title="Page Number Shape"/>
          <p:cNvSpPr/>
          <p:nvPr/>
        </p:nvSpPr>
        <p:spPr bwMode="auto">
          <a:xfrm>
            <a:off x="11784011" y="1393748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7673" y="2571722"/>
            <a:ext cx="8296654" cy="3286153"/>
          </a:xfrm>
        </p:spPr>
        <p:txBody>
          <a:bodyPr anchor="t">
            <a:normAutofit/>
          </a:bodyPr>
          <a:lstStyle>
            <a:lvl1pPr>
              <a:lnSpc>
                <a:spcPct val="85000"/>
              </a:lnSpc>
              <a:defRPr sz="7700" cap="all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7673" y="1393748"/>
            <a:ext cx="8401429" cy="81915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3000"/>
              </a:lnSpc>
              <a:spcBef>
                <a:spcPts val="0"/>
              </a:spcBef>
              <a:buNone/>
              <a:defRPr sz="20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42955" y="6314439"/>
            <a:ext cx="1596622" cy="365125"/>
          </a:xfrm>
        </p:spPr>
        <p:txBody>
          <a:bodyPr/>
          <a:lstStyle>
            <a:lvl1pPr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7673" y="6314440"/>
            <a:ext cx="6480226" cy="365125"/>
          </a:xfrm>
        </p:spPr>
        <p:txBody>
          <a:bodyPr/>
          <a:lstStyle>
            <a:lvl1pPr>
              <a:defRPr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1620760"/>
            <a:ext cx="407988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 flipH="1">
            <a:off x="1" y="6178167"/>
            <a:ext cx="10244326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3192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81600" y="540628"/>
            <a:ext cx="6248400" cy="248894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3712467"/>
            <a:ext cx="6248400" cy="24822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6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7784"/>
            <a:ext cx="3831336" cy="49560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58065"/>
            <a:ext cx="6245352" cy="914400"/>
          </a:xfrm>
        </p:spPr>
        <p:txBody>
          <a:bodyPr anchor="b"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81600" y="1526671"/>
            <a:ext cx="6245352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81600" y="3700826"/>
            <a:ext cx="6248400" cy="914400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81600" y="4669432"/>
            <a:ext cx="6245352" cy="17556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6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7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55479"/>
            <a:ext cx="3838776" cy="1921022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564147"/>
            <a:ext cx="6248400" cy="5622644"/>
          </a:xfrm>
        </p:spPr>
        <p:txBody>
          <a:bodyPr/>
          <a:lstStyle>
            <a:lvl1pPr>
              <a:lnSpc>
                <a:spcPct val="112000"/>
              </a:lnSpc>
              <a:defRPr sz="2000"/>
            </a:lvl1pPr>
            <a:lvl2pPr>
              <a:lnSpc>
                <a:spcPct val="112000"/>
              </a:lnSpc>
              <a:defRPr sz="1800"/>
            </a:lvl2pPr>
            <a:lvl3pPr>
              <a:lnSpc>
                <a:spcPct val="112000"/>
              </a:lnSpc>
              <a:defRPr sz="1600"/>
            </a:lvl3pPr>
            <a:lvl4pPr>
              <a:lnSpc>
                <a:spcPct val="112000"/>
              </a:lnSpc>
              <a:defRPr sz="1400"/>
            </a:lvl4pPr>
            <a:lvl5pPr>
              <a:lnSpc>
                <a:spcPct val="112000"/>
              </a:lnSpc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" y="2621512"/>
            <a:ext cx="3838776" cy="3239537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50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557261"/>
            <a:ext cx="3840480" cy="1919239"/>
          </a:xfrm>
        </p:spPr>
        <p:txBody>
          <a:bodyPr anchor="t">
            <a:noAutofit/>
          </a:bodyPr>
          <a:lstStyle>
            <a:lvl1pPr>
              <a:lnSpc>
                <a:spcPct val="93000"/>
              </a:lnSpc>
              <a:defRPr sz="40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0"/>
            <a:ext cx="6172200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8952" y="2621512"/>
            <a:ext cx="3840480" cy="3236976"/>
          </a:xfrm>
        </p:spPr>
        <p:txBody>
          <a:bodyPr/>
          <a:lstStyle>
            <a:lvl1pPr marL="0" indent="0" algn="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0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1600" y="640080"/>
            <a:ext cx="6248398" cy="558414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28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rgbClr val="262626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0765" y="642931"/>
            <a:ext cx="2446670" cy="467810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642932"/>
            <a:ext cx="7070678" cy="46781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36187" y="5927131"/>
            <a:ext cx="3814856" cy="365125"/>
          </a:xfrm>
        </p:spPr>
        <p:txBody>
          <a:bodyPr/>
          <a:lstStyle/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36187" y="6315949"/>
            <a:ext cx="38148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84011" y="5607592"/>
            <a:ext cx="407988" cy="365125"/>
          </a:xfrm>
        </p:spPr>
        <p:txBody>
          <a:bodyPr/>
          <a:lstStyle/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 title="Horizontal Rule Line"/>
          <p:cNvCxnSpPr/>
          <p:nvPr/>
        </p:nvCxnSpPr>
        <p:spPr>
          <a:xfrm>
            <a:off x="0" y="6199730"/>
            <a:ext cx="10260011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8670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45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 title="Page Number Shape"/>
          <p:cNvSpPr/>
          <p:nvPr/>
        </p:nvSpPr>
        <p:spPr bwMode="auto">
          <a:xfrm>
            <a:off x="11784011" y="538058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600" y="569066"/>
            <a:ext cx="6248398" cy="5655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1" y="593006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7F0A1B07-0CA5-4DA7-8562-DD1E0A99DDCE}" type="datetimeFigureOut">
              <a:rPr lang="en-US" smtClean="0"/>
              <a:t>3/31/2019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1" y="6314440"/>
            <a:ext cx="3814856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1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84011" y="5607592"/>
            <a:ext cx="4079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1" baseline="0">
                <a:solidFill>
                  <a:schemeClr val="bg2"/>
                </a:solidFill>
                <a:latin typeface="+mj-lt"/>
              </a:defRPr>
            </a:lvl1pPr>
          </a:lstStyle>
          <a:p>
            <a:fld id="{EE125234-8025-4C57-A1B7-6793C4E7DF2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 title="Horizontal Rule Line"/>
          <p:cNvCxnSpPr/>
          <p:nvPr/>
        </p:nvCxnSpPr>
        <p:spPr>
          <a:xfrm>
            <a:off x="0" y="6199730"/>
            <a:ext cx="4495800" cy="0"/>
          </a:xfrm>
          <a:prstGeom prst="line">
            <a:avLst/>
          </a:prstGeom>
          <a:ln w="254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016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5000" b="0" i="1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112000"/>
        </a:lnSpc>
        <a:spcBef>
          <a:spcPts val="900"/>
        </a:spcBef>
        <a:buFont typeface="Corbel" panose="020B0503020204020204" pitchFamily="34" charset="0"/>
        <a:buChar char="–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112000"/>
        </a:lnSpc>
        <a:spcBef>
          <a:spcPts val="9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9718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3429000" indent="-283464" algn="l" defTabSz="914400" rtl="0" eaLnBrk="1" latinLnBrk="0" hangingPunct="1">
        <a:lnSpc>
          <a:spcPct val="112000"/>
        </a:lnSpc>
        <a:spcBef>
          <a:spcPts val="1300"/>
        </a:spcBef>
        <a:buFont typeface="Corbel" panose="020B0503020204020204" pitchFamily="34" charset="0"/>
        <a:buChar char="–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886200" indent="-283464" algn="l" defTabSz="914400" rtl="0" eaLnBrk="1" latinLnBrk="0" hangingPunct="1">
        <a:lnSpc>
          <a:spcPct val="112000"/>
        </a:lnSpc>
        <a:spcBef>
          <a:spcPts val="1300"/>
        </a:spcBef>
        <a:buFont typeface="Arial" panose="020B0604020202020204" pitchFamily="34" charset="0"/>
        <a:buChar char="•"/>
        <a:defRPr sz="1400" i="1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2832">
          <p15:clr>
            <a:srgbClr val="F26B43"/>
          </p15:clr>
        </p15:guide>
        <p15:guide id="2" pos="480">
          <p15:clr>
            <a:srgbClr val="F26B43"/>
          </p15:clr>
        </p15:guide>
        <p15:guide id="3" orient="horz" pos="432">
          <p15:clr>
            <a:srgbClr val="F26B43"/>
          </p15:clr>
        </p15:guide>
        <p15:guide id="4" pos="7200">
          <p15:clr>
            <a:srgbClr val="F26B43"/>
          </p15:clr>
        </p15:guide>
        <p15:guide id="5" pos="32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oogle.com/url?sa=i&amp;rct=j&amp;q=&amp;esrc=s&amp;source=images&amp;cd=&amp;cad=rja&amp;uact=8&amp;ved=2ahUKEwiWifHWkMrdAhVIeKwKHfoCAWkQjRx6BAgBEAU&amp;url=https://www.probabilitycourse.com/chapter11/11_2_2_state_transition_matrix_and_diagram.php&amp;psig=AOvVaw06o6FOvHqSqN83xeu5Raj6&amp;ust=153755169469109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arkov_chai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D0F4-E50B-426A-9BAE-BC378694F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6634" y="291164"/>
            <a:ext cx="7034362" cy="4268965"/>
          </a:xfrm>
        </p:spPr>
        <p:txBody>
          <a:bodyPr>
            <a:normAutofit/>
          </a:bodyPr>
          <a:lstStyle/>
          <a:p>
            <a:r>
              <a:rPr lang="en-US" sz="6000" dirty="0"/>
              <a:t>Application Of Markov chain Monte Carlo on Football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AF40A-E104-417F-9324-A8A9CDF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913" y="4560129"/>
            <a:ext cx="7034362" cy="706355"/>
          </a:xfrm>
        </p:spPr>
        <p:txBody>
          <a:bodyPr>
            <a:noAutofit/>
          </a:bodyPr>
          <a:lstStyle/>
          <a:p>
            <a:r>
              <a:rPr lang="en-US" sz="3200" dirty="0"/>
              <a:t>By: Lajarius Black</a:t>
            </a:r>
          </a:p>
          <a:p>
            <a:r>
              <a:rPr lang="en-US" sz="3200" dirty="0"/>
              <a:t>Advisor: </a:t>
            </a:r>
            <a:r>
              <a:rPr lang="en-US" sz="3200" dirty="0" err="1"/>
              <a:t>Xiuquan</a:t>
            </a:r>
            <a:r>
              <a:rPr lang="en-US" sz="3200" dirty="0"/>
              <a:t> Wang</a:t>
            </a:r>
          </a:p>
          <a:p>
            <a:r>
              <a:rPr lang="en-US" sz="3200" dirty="0"/>
              <a:t>Date: April 1</a:t>
            </a:r>
            <a:r>
              <a:rPr lang="en-US" sz="3200" baseline="30000" dirty="0"/>
              <a:t>st</a:t>
            </a:r>
            <a:r>
              <a:rPr lang="en-US" sz="3200" dirty="0"/>
              <a:t>, 2019</a:t>
            </a:r>
          </a:p>
        </p:txBody>
      </p:sp>
    </p:spTree>
    <p:extLst>
      <p:ext uri="{BB962C8B-B14F-4D97-AF65-F5344CB8AC3E}">
        <p14:creationId xmlns:p14="http://schemas.microsoft.com/office/powerpoint/2010/main" val="291889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7D48-967A-41C4-986C-D6F1346B4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CD52-7823-47D3-98D8-C36D54697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Methods</a:t>
            </a:r>
          </a:p>
          <a:p>
            <a:pPr lvl="1"/>
            <a:r>
              <a:rPr lang="en-US" dirty="0"/>
              <a:t>Markov Chain</a:t>
            </a:r>
          </a:p>
          <a:p>
            <a:r>
              <a:rPr lang="en-US" dirty="0"/>
              <a:t>Application</a:t>
            </a:r>
          </a:p>
          <a:p>
            <a:pPr lvl="1"/>
            <a:r>
              <a:rPr lang="en-US" dirty="0"/>
              <a:t>The Markov Chain for NFL Drive</a:t>
            </a:r>
          </a:p>
          <a:p>
            <a:r>
              <a:rPr lang="en-US" dirty="0"/>
              <a:t>Conclusions</a:t>
            </a:r>
          </a:p>
          <a:p>
            <a:r>
              <a:rPr lang="en-US" dirty="0"/>
              <a:t>Future Work</a:t>
            </a:r>
          </a:p>
          <a:p>
            <a:pPr lvl="1"/>
            <a:r>
              <a:rPr lang="en-US" dirty="0"/>
              <a:t>Monte Carlo</a:t>
            </a:r>
          </a:p>
          <a:p>
            <a:pPr lvl="1"/>
            <a:r>
              <a:rPr lang="en-US" dirty="0"/>
              <a:t>Markov Chain Monte Carlo (MCMC)</a:t>
            </a:r>
          </a:p>
          <a:p>
            <a:pPr lvl="1"/>
            <a:r>
              <a:rPr lang="en-US" dirty="0"/>
              <a:t>Metropolis-Hastings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3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B35A-EF82-4583-A01A-E8625676D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80D8CE-F9ED-4299-B398-767030903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American Football and Data Science.</a:t>
            </a:r>
          </a:p>
          <a:p>
            <a:pPr lvl="1"/>
            <a:r>
              <a:rPr lang="en-US" dirty="0"/>
              <a:t> An interesting combination</a:t>
            </a:r>
          </a:p>
          <a:p>
            <a:r>
              <a:rPr lang="en-US" dirty="0"/>
              <a:t>Goal</a:t>
            </a:r>
          </a:p>
          <a:p>
            <a:pPr lvl="1"/>
            <a:r>
              <a:rPr lang="en-US" dirty="0"/>
              <a:t>To extract and infer knowledge from football data </a:t>
            </a:r>
          </a:p>
          <a:p>
            <a:pPr lvl="1"/>
            <a:r>
              <a:rPr lang="en-US" dirty="0"/>
              <a:t>Through the knowledge of Markov Chain, Monte Carlo, and MCMC,  this goal is ready to be accomplished 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NFL Play by Play data from 2009 to 2015 seasons</a:t>
            </a:r>
          </a:p>
        </p:txBody>
      </p:sp>
      <p:pic>
        <p:nvPicPr>
          <p:cNvPr id="1026" name="Picture 2" descr="Image result for nfl pi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600" y="1617612"/>
            <a:ext cx="4110306" cy="307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159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BA2D4-8992-41E7-ACA2-7C30EA873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Markov Chain is a stochastic model that describes a sequence of possible events in which the probability of those events depends on the state of the previous event. </a:t>
            </a:r>
          </a:p>
          <a:p>
            <a:r>
              <a:rPr lang="en-US" dirty="0"/>
              <a:t>The Markov Chain is apart of the Markov Process, a “memoryless” property of the stochastic process. </a:t>
            </a:r>
          </a:p>
          <a:p>
            <a:r>
              <a:rPr lang="en-US" dirty="0"/>
              <a:t>The equation for the Markov Chain is :</a:t>
            </a:r>
          </a:p>
          <a:p>
            <a:endParaRPr lang="en-US" dirty="0"/>
          </a:p>
        </p:txBody>
      </p:sp>
      <p:pic>
        <p:nvPicPr>
          <p:cNvPr id="5" name="Picture 4" descr="Image result for transition diagram markov chain">
            <a:hlinkClick r:id="rId2" tgtFrame="&quot;_blank&quot;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64" y="1578356"/>
            <a:ext cx="3833906" cy="308907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526718"/>
              </p:ext>
            </p:extLst>
          </p:nvPr>
        </p:nvGraphicFramePr>
        <p:xfrm>
          <a:off x="899036" y="4744690"/>
          <a:ext cx="3559834" cy="1393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9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4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0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4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State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0.33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0.67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3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Batang" panose="02030600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46EC7D48-967A-41C4-986C-D6F1346B4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</p:spPr>
        <p:txBody>
          <a:bodyPr/>
          <a:lstStyle/>
          <a:p>
            <a:r>
              <a:rPr lang="en-US" dirty="0"/>
              <a:t>Method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9CAA43F-3A2D-4B50-8188-84CE54899167}"/>
                  </a:ext>
                </a:extLst>
              </p:cNvPr>
              <p:cNvSpPr/>
              <p:nvPr/>
            </p:nvSpPr>
            <p:spPr>
              <a:xfrm>
                <a:off x="5728251" y="3429000"/>
                <a:ext cx="5155095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9CAA43F-3A2D-4B50-8188-84CE548991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251" y="3429000"/>
                <a:ext cx="5155095" cy="461665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31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5FCCF-9724-4A70-A870-8EF72C8C6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 Connection to Football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278B9-E8B5-48A1-8AEF-C550974FC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NFL game is nothing more than a series of drives.</a:t>
            </a:r>
          </a:p>
          <a:p>
            <a:r>
              <a:rPr lang="en-US" dirty="0"/>
              <a:t>Each drive comes with a different outcome (e.g., touchdown, fumble, etc.) that can represent the current state</a:t>
            </a:r>
            <a:r>
              <a:rPr lang="en-US" b="1" dirty="0"/>
              <a:t> </a:t>
            </a:r>
            <a:r>
              <a:rPr lang="en-US" dirty="0"/>
              <a:t>of the game.</a:t>
            </a:r>
          </a:p>
          <a:p>
            <a:r>
              <a:rPr lang="en-US" dirty="0"/>
              <a:t>Consecutive drives thus represent transitions from one state to the other. </a:t>
            </a:r>
          </a:p>
          <a:p>
            <a:r>
              <a:rPr lang="en-US" dirty="0"/>
              <a:t>A very convenient way to describe the drives (states) transitions of a system is through </a:t>
            </a:r>
            <a:r>
              <a:rPr lang="en-US" b="1" dirty="0">
                <a:hlinkClick r:id="rId2"/>
              </a:rPr>
              <a:t>Markov chains</a:t>
            </a:r>
            <a:endParaRPr lang="en-US" b="1" dirty="0"/>
          </a:p>
          <a:p>
            <a:r>
              <a:rPr lang="en-US" dirty="0"/>
              <a:t>The last drive will then represent the entire football game and the state of the game </a:t>
            </a:r>
          </a:p>
        </p:txBody>
      </p:sp>
    </p:spTree>
    <p:extLst>
      <p:ext uri="{BB962C8B-B14F-4D97-AF65-F5344CB8AC3E}">
        <p14:creationId xmlns:p14="http://schemas.microsoft.com/office/powerpoint/2010/main" val="12012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E40D2-3567-4E93-B6BC-A824297D0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Markov Chain is nothing more than a network capturing the various states of a system and the transitions between them.</a:t>
            </a:r>
          </a:p>
          <a:p>
            <a:pPr lvl="1"/>
            <a:r>
              <a:rPr lang="en-US" dirty="0"/>
              <a:t>Game states can be a Touchdown, Field goal, Punt, Fumble etc. </a:t>
            </a:r>
          </a:p>
          <a:p>
            <a:pPr lvl="1"/>
            <a:r>
              <a:rPr lang="en-US" dirty="0"/>
              <a:t>We have a sink node, i.e., a node that is the end state of the system, namely, “End of Game”, and a source node, or the beginning state, “Start of Game”. </a:t>
            </a:r>
          </a:p>
          <a:p>
            <a:pPr lvl="1"/>
            <a:r>
              <a:rPr lang="en-US" dirty="0"/>
              <a:t>The transition probabilities can be identified using play-by-play data.</a:t>
            </a:r>
          </a:p>
        </p:txBody>
      </p:sp>
      <p:pic>
        <p:nvPicPr>
          <p:cNvPr id="4" name="Picture 3" descr="screen-shot-2016-09-12-at-4-06-23-pm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80" y="2648308"/>
            <a:ext cx="4123426" cy="348992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6EC7D48-967A-41C4-986C-D6F1346B4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</p:spPr>
        <p:txBody>
          <a:bodyPr/>
          <a:lstStyle/>
          <a:p>
            <a:r>
              <a:rPr lang="en-US" dirty="0"/>
              <a:t>The MC for NFL Drive</a:t>
            </a:r>
            <a:br>
              <a:rPr lang="en-US" dirty="0"/>
            </a:br>
            <a:r>
              <a:rPr lang="en-US" dirty="0"/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26147567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Analysis with using Markov Chain</a:t>
            </a:r>
          </a:p>
          <a:p>
            <a:pPr lvl="1"/>
            <a:r>
              <a:rPr lang="en-US" dirty="0"/>
              <a:t>The nodes in the network to the left represent the various states of an NFL game</a:t>
            </a:r>
          </a:p>
          <a:p>
            <a:pPr lvl="1"/>
            <a:r>
              <a:rPr lang="en-US" dirty="0"/>
              <a:t>the directed edges represent the transitions between the various states.</a:t>
            </a:r>
          </a:p>
          <a:p>
            <a:pPr lvl="1"/>
            <a:r>
              <a:rPr lang="en-US" dirty="0"/>
              <a:t>The weight of each edge corresponds to the transition probability and this is further captured in the width of the edge.</a:t>
            </a:r>
          </a:p>
          <a:p>
            <a:r>
              <a:rPr lang="en-US" dirty="0"/>
              <a:t>The same information can be presented alternatively through the transition matrix: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screen-shot-2016-09-12-at-4-06-23-pm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80" y="2648308"/>
            <a:ext cx="4123426" cy="348992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6EC7D48-967A-41C4-986C-D6F1346B4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59678"/>
            <a:ext cx="3833906" cy="4952492"/>
          </a:xfrm>
        </p:spPr>
        <p:txBody>
          <a:bodyPr/>
          <a:lstStyle/>
          <a:p>
            <a:r>
              <a:rPr lang="en-US" dirty="0"/>
              <a:t>The MC for NFL Drive</a:t>
            </a:r>
            <a:br>
              <a:rPr lang="en-US" dirty="0"/>
            </a:br>
            <a:r>
              <a:rPr lang="en-US" dirty="0"/>
              <a:t>Network</a:t>
            </a:r>
          </a:p>
        </p:txBody>
      </p:sp>
    </p:spTree>
    <p:extLst>
      <p:ext uri="{BB962C8B-B14F-4D97-AF65-F5344CB8AC3E}">
        <p14:creationId xmlns:p14="http://schemas.microsoft.com/office/powerpoint/2010/main" val="3540966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matrix</a:t>
            </a:r>
          </a:p>
        </p:txBody>
      </p:sp>
      <p:pic>
        <p:nvPicPr>
          <p:cNvPr id="4" name="Picture 3" descr="markov-matrix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40442"/>
            <a:ext cx="4595906" cy="39549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181600" y="569066"/>
            <a:ext cx="6248398" cy="5655156"/>
          </a:xfrm>
        </p:spPr>
        <p:txBody>
          <a:bodyPr/>
          <a:lstStyle/>
          <a:p>
            <a:r>
              <a:rPr lang="en-US" dirty="0"/>
              <a:t>Game Analysis with using Markov Chain</a:t>
            </a:r>
          </a:p>
          <a:p>
            <a:pPr lvl="1"/>
            <a:r>
              <a:rPr lang="en-US" dirty="0"/>
              <a:t>The nodes in the network above represent the various states of an Football game</a:t>
            </a:r>
          </a:p>
          <a:p>
            <a:pPr lvl="1"/>
            <a:r>
              <a:rPr lang="en-US" dirty="0"/>
              <a:t>the directed edges represent the transitions between the various states.</a:t>
            </a:r>
          </a:p>
          <a:p>
            <a:pPr lvl="1"/>
            <a:r>
              <a:rPr lang="en-US" dirty="0"/>
              <a:t>The weight of each edge corresponds to the transition probability and this is further captured in the width of the edge.</a:t>
            </a:r>
          </a:p>
          <a:p>
            <a:r>
              <a:rPr lang="en-US" dirty="0"/>
              <a:t>The same information can be presented alternatively through the transition matrix: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011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2" y="122357"/>
            <a:ext cx="3833906" cy="4952492"/>
          </a:xfrm>
        </p:spPr>
        <p:txBody>
          <a:bodyPr/>
          <a:lstStyle/>
          <a:p>
            <a:r>
              <a:rPr lang="en-US" dirty="0"/>
              <a:t>Football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states of the last diagram, the only scoring ones for the offense are the touchdown and field goal. </a:t>
            </a:r>
          </a:p>
          <a:p>
            <a:r>
              <a:rPr lang="en-US" dirty="0"/>
              <a:t>Some of the states representing offensive turnovers can potentially be scoring states for the defense </a:t>
            </a:r>
          </a:p>
          <a:p>
            <a:r>
              <a:rPr lang="en-US" dirty="0"/>
              <a:t>the probability of an offensive turnover leading to a defense score (i.e., touchdown) can be seen on the graph to the left</a:t>
            </a:r>
          </a:p>
          <a:p>
            <a:pPr lvl="1"/>
            <a:r>
              <a:rPr lang="en-US" dirty="0"/>
              <a:t>blocked punt or FG have the highest chance of being returned for a touchdown by the defense. </a:t>
            </a:r>
          </a:p>
          <a:p>
            <a:pPr lvl="1"/>
            <a:r>
              <a:rPr lang="en-US" dirty="0"/>
              <a:t>these are also the states that are less possible to begin with, and hence, the large confidence intervals associated with them.</a:t>
            </a:r>
          </a:p>
        </p:txBody>
      </p:sp>
      <p:pic>
        <p:nvPicPr>
          <p:cNvPr id="3076" name="Picture 4" descr="turnover-def-t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3" y="2317817"/>
            <a:ext cx="4511615" cy="3945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8707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343" y="559678"/>
            <a:ext cx="4026563" cy="4952492"/>
          </a:xfrm>
        </p:spPr>
        <p:txBody>
          <a:bodyPr/>
          <a:lstStyle/>
          <a:p>
            <a:r>
              <a:rPr lang="en-US" i="0" dirty="0"/>
              <a:t>Steady State of Markov Chain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can we do with this information? </a:t>
                </a:r>
              </a:p>
              <a:p>
                <a:pPr lvl="1"/>
                <a:r>
                  <a:rPr lang="en-US" dirty="0"/>
                  <a:t>Estimate the expected number of total points in a football game by summing up the expected number of points X for each drive: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represents the probability of the system at state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the points scored in each state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 is the expected number of drives per game </a:t>
                </a:r>
              </a:p>
              <a:p>
                <a:r>
                  <a:rPr lang="en-US" dirty="0"/>
                  <a:t>Using the above equation we obtain E[X] = 43.9, while using the actual results from the games we get a value of 45.1.  The two quantities cannot be deemed statistically different (p-value &gt; 0.7) for the corresponding t-test)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8" t="-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screen-shot-2016-09-24-at-7-51-28-p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84" y="2750322"/>
            <a:ext cx="3621121" cy="339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193860" y="2145861"/>
                <a:ext cx="2121286" cy="6044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860" y="2145861"/>
                <a:ext cx="2121286" cy="60446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242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Markov chains are a strong tool in the arsenal of a computational sports analyst that can be used also for prediction.</a:t>
            </a:r>
          </a:p>
          <a:p>
            <a:r>
              <a:rPr lang="en-US" dirty="0"/>
              <a:t>There are different ways to do this and the most straightforward is to simply analyze the game data. </a:t>
            </a:r>
          </a:p>
          <a:p>
            <a:r>
              <a:rPr lang="en-US" dirty="0"/>
              <a:t>We can analyze the network to identify interesting patterns such as the one mentioned at the beginning</a:t>
            </a:r>
          </a:p>
        </p:txBody>
      </p:sp>
    </p:spTree>
    <p:extLst>
      <p:ext uri="{BB962C8B-B14F-4D97-AF65-F5344CB8AC3E}">
        <p14:creationId xmlns:p14="http://schemas.microsoft.com/office/powerpoint/2010/main" val="22017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Monte Carlo</a:t>
            </a:r>
          </a:p>
          <a:p>
            <a:pPr lvl="1"/>
            <a:r>
              <a:rPr lang="en-US" dirty="0"/>
              <a:t>A broad class of algorithms that uses random sampling to get data</a:t>
            </a:r>
          </a:p>
          <a:p>
            <a:r>
              <a:rPr lang="en-US" dirty="0"/>
              <a:t>Markov Chain Monte Carlo (MCMC)</a:t>
            </a:r>
          </a:p>
          <a:p>
            <a:pPr lvl="1"/>
            <a:r>
              <a:rPr lang="en-US" dirty="0"/>
              <a:t>A collection of techniques to sample a probability distribution π in a very high-dimensional space by making a Markov Chain that has π as its stationary distribution. </a:t>
            </a:r>
          </a:p>
          <a:p>
            <a:r>
              <a:rPr lang="en-US" dirty="0"/>
              <a:t>Metropolis-Hastings Algorithm</a:t>
            </a:r>
          </a:p>
          <a:p>
            <a:pPr lvl="1"/>
            <a:r>
              <a:rPr lang="en-US" dirty="0"/>
              <a:t>A common and popular method that is used to get results in MCMC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79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08D2A-DC79-4D20-8B80-1AE5B896D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Bibliography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A3EDB-D390-4F37-9602-1C9D923B7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119271"/>
            <a:ext cx="6248398" cy="6838120"/>
          </a:xfrm>
        </p:spPr>
        <p:txBody>
          <a:bodyPr>
            <a:normAutofit fontScale="62500" lnSpcReduction="20000"/>
          </a:bodyPr>
          <a:lstStyle/>
          <a:p>
            <a:r>
              <a:rPr lang="en-US" sz="2200" dirty="0" err="1"/>
              <a:t>Andrieu</a:t>
            </a:r>
            <a:r>
              <a:rPr lang="en-US" sz="2200" dirty="0"/>
              <a:t>, Christophe, Nando De Freitas, Arnaud Doucet, Michael I. Jordan. An Introduction to MCMC for Machine Learning. The Netherlands. Kluwer Academic Publishers. 2003. </a:t>
            </a:r>
          </a:p>
          <a:p>
            <a:endParaRPr lang="en-US" sz="2200" dirty="0"/>
          </a:p>
          <a:p>
            <a:r>
              <a:rPr lang="en-US" sz="2200" dirty="0"/>
              <a:t>Edwards, D. (n.d.). Monte Carlo Integration. [pdf] Salt Lake City, pp.10-14. Available at: http://www.cs.utah.edu/~edwards/research/mcIntegration.pdf [Accessed 25 Oct. 2018].</a:t>
            </a:r>
          </a:p>
          <a:p>
            <a:endParaRPr lang="en-US" sz="2200" dirty="0"/>
          </a:p>
          <a:p>
            <a:r>
              <a:rPr lang="en-US" sz="2200" dirty="0"/>
              <a:t>Holmes-</a:t>
            </a:r>
            <a:r>
              <a:rPr lang="en-US" sz="2200" dirty="0" err="1"/>
              <a:t>Cerfon</a:t>
            </a:r>
            <a:r>
              <a:rPr lang="en-US" sz="2200" dirty="0"/>
              <a:t>, M. (2002). Monte-Carlo methods. [pdf] pp.1-8. Available at: https://cims.nyu.edu/~holmes/teaching/asa15/Lecture6.pdf [Accessed 2 Oct. 2018].</a:t>
            </a:r>
          </a:p>
          <a:p>
            <a:endParaRPr lang="en-US" sz="2200" dirty="0"/>
          </a:p>
          <a:p>
            <a:r>
              <a:rPr lang="en-US" sz="2200" dirty="0" err="1"/>
              <a:t>Kroese</a:t>
            </a:r>
            <a:r>
              <a:rPr lang="en-US" sz="2200" dirty="0"/>
              <a:t>, D. (n.d.). Why the Monte Carlo Method is so important today. [</a:t>
            </a:r>
            <a:r>
              <a:rPr lang="en-US" sz="2200" dirty="0" err="1"/>
              <a:t>ebook</a:t>
            </a:r>
            <a:r>
              <a:rPr lang="en-US" sz="2200" dirty="0"/>
              <a:t>] pp.3-5. Available at: https://people.smp.uq.edu.au/DirkKroese/ps/whyMCM_fin.pdf [Accessed 8 Nov. 2018].</a:t>
            </a:r>
          </a:p>
          <a:p>
            <a:endParaRPr lang="en-US" sz="2200" dirty="0"/>
          </a:p>
          <a:p>
            <a:r>
              <a:rPr lang="en-US" sz="2200" dirty="0" err="1"/>
              <a:t>Pascoal</a:t>
            </a:r>
            <a:r>
              <a:rPr lang="en-US" sz="2200" dirty="0"/>
              <a:t>, A. (n.d.). Markov Chains. pp.1-15.</a:t>
            </a:r>
          </a:p>
          <a:p>
            <a:endParaRPr lang="en-US" sz="2200" dirty="0"/>
          </a:p>
          <a:p>
            <a:r>
              <a:rPr lang="en-US" sz="2200" dirty="0"/>
              <a:t>Rouse, </a:t>
            </a:r>
            <a:r>
              <a:rPr lang="en-US" sz="2200" dirty="0" err="1"/>
              <a:t>Magaret</a:t>
            </a:r>
            <a:r>
              <a:rPr lang="en-US" sz="2200" dirty="0"/>
              <a:t>. “What Is Probability? - Definition from WhatIs.com.” WhatIs.com, whatis.techtarget.com/definition/probability.</a:t>
            </a:r>
          </a:p>
          <a:p>
            <a:endParaRPr lang="en-US" sz="2200" dirty="0"/>
          </a:p>
          <a:p>
            <a:r>
              <a:rPr lang="en-US" sz="2200" dirty="0"/>
              <a:t>Vitutor.com. (n.d.). Probability Properties. [online] Available at: https://www.vitutor.com/statistics/probability/properties_probability.html [Accessed 17 Aug. 2018].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272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DBE10-CEAA-470E-8DBA-42C1EB90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Questions, Comments or Concerns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1B3366-A6C3-4555-ACFC-418B112D1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5913" y="559678"/>
            <a:ext cx="5215559" cy="521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33504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">
  <a:themeElements>
    <a:clrScheme name="Headlines">
      <a:dk1>
        <a:sysClr val="windowText" lastClr="000000"/>
      </a:dk1>
      <a:lt1>
        <a:sysClr val="window" lastClr="FFFFFF"/>
      </a:lt1>
      <a:dk2>
        <a:srgbClr val="1D1A1D"/>
      </a:dk2>
      <a:lt2>
        <a:srgbClr val="F5F5F5"/>
      </a:lt2>
      <a:accent1>
        <a:srgbClr val="439EB7"/>
      </a:accent1>
      <a:accent2>
        <a:srgbClr val="E28B55"/>
      </a:accent2>
      <a:accent3>
        <a:srgbClr val="DCB64D"/>
      </a:accent3>
      <a:accent4>
        <a:srgbClr val="4CA198"/>
      </a:accent4>
      <a:accent5>
        <a:srgbClr val="835B82"/>
      </a:accent5>
      <a:accent6>
        <a:srgbClr val="645135"/>
      </a:accent6>
      <a:hlink>
        <a:srgbClr val="439EB7"/>
      </a:hlink>
      <a:folHlink>
        <a:srgbClr val="835B82"/>
      </a:folHlink>
    </a:clrScheme>
    <a:fontScheme name="Headlines">
      <a:majorFont>
        <a:latin typeface="Century Schoolbook" panose="020406040505050203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eadlines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100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88900" dist="25400" dir="10800000">
              <a:srgbClr val="000000">
                <a:alpha val="25000"/>
              </a:srgbClr>
            </a:innerShdw>
            <a:outerShdw blurRad="25400" dist="25400" dir="5400000" rotWithShape="0">
              <a:srgbClr val="FFFFFF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" id="{3841520A-25F2-4EB8-BE4C-611DB5ABEED9}" vid="{ECD25A4C-D97E-4C12-84B1-63580BFFAEE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Headlines</Template>
  <TotalTime>1623</TotalTime>
  <Words>838</Words>
  <Application>Microsoft Office PowerPoint</Application>
  <PresentationFormat>Widescreen</PresentationFormat>
  <Paragraphs>109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Century Schoolbook</vt:lpstr>
      <vt:lpstr>Corbel</vt:lpstr>
      <vt:lpstr>Headlines</vt:lpstr>
      <vt:lpstr>Application Of Markov chain Monte Carlo on Football Data</vt:lpstr>
      <vt:lpstr>Content</vt:lpstr>
      <vt:lpstr>Introduction</vt:lpstr>
      <vt:lpstr>Method</vt:lpstr>
      <vt:lpstr>Markov Chain Connection to Football </vt:lpstr>
      <vt:lpstr>The MC for NFL Drive Network</vt:lpstr>
      <vt:lpstr>The MC for NFL Drive Network</vt:lpstr>
      <vt:lpstr>transition matrix</vt:lpstr>
      <vt:lpstr>Football Data Analysis</vt:lpstr>
      <vt:lpstr>Steady State of Markov Chain</vt:lpstr>
      <vt:lpstr>Conclusions</vt:lpstr>
      <vt:lpstr>Future Works</vt:lpstr>
      <vt:lpstr>Bibliography </vt:lpstr>
      <vt:lpstr>Any Questions, Comments or Concerns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MCMc on Football Data</dc:title>
  <dc:creator>Lajarius Black</dc:creator>
  <cp:lastModifiedBy>Lajarius Black</cp:lastModifiedBy>
  <cp:revision>64</cp:revision>
  <dcterms:created xsi:type="dcterms:W3CDTF">2019-02-02T19:15:59Z</dcterms:created>
  <dcterms:modified xsi:type="dcterms:W3CDTF">2019-04-01T06:36:14Z</dcterms:modified>
</cp:coreProperties>
</file>
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66" r:id="rId4"/>
    <p:sldId id="267" r:id="rId5"/>
    <p:sldId id="285" r:id="rId6"/>
    <p:sldId id="270" r:id="rId7"/>
    <p:sldId id="286" r:id="rId8"/>
    <p:sldId id="272" r:id="rId9"/>
    <p:sldId id="273" r:id="rId10"/>
    <p:sldId id="288" r:id="rId11"/>
    <p:sldId id="287" r:id="rId12"/>
    <p:sldId id="277" r:id="rId13"/>
    <p:sldId id="278" r:id="rId14"/>
    <p:sldId id="27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471" autoAdjust="0"/>
    <p:restoredTop sz="94660"/>
  </p:normalViewPr>
  <p:slideViewPr>
    <p:cSldViewPr snapToGrid="0">
      <p:cViewPr varScale="1">
        <p:scale>
          <a:sx n="74" d="100"/>
          <a:sy n="74" d="100"/>
        </p:scale>
        <p:origin x="96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97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9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01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06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990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38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332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41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63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817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39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E79D7-8DEF-4CFA-BD13-860BA9E267E2}" type="datetimeFigureOut">
              <a:rPr lang="en-US" smtClean="0"/>
              <a:t>4/14/2020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570F8-30B3-4FE6-88D8-02AC23C219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720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assandrajohn.com/2016/07/26/first-rules-of-data-analysis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irviewhs.org/sites/stock-market-club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ngall.com/thank-you-pn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Statistical Approach for Stock Data </a:t>
            </a:r>
            <a:r>
              <a:rPr lang="en-US" dirty="0"/>
              <a:t>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Dedrick Barkley</a:t>
            </a:r>
          </a:p>
          <a:p>
            <a:r>
              <a:rPr lang="en-US" dirty="0"/>
              <a:t>Advisor: Dr. </a:t>
            </a:r>
            <a:r>
              <a:rPr lang="en-US" dirty="0" smtClean="0"/>
              <a:t>X. Wang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7D016E4-7187-4BD4-BCFF-24F48FC85E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35064" y="3602038"/>
            <a:ext cx="2939512" cy="2741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19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/>
              <a:t>Goal and its </a:t>
            </a:r>
            <a:r>
              <a:rPr lang="en-US" dirty="0" smtClean="0"/>
              <a:t>Process</a:t>
            </a:r>
          </a:p>
          <a:p>
            <a:r>
              <a:rPr lang="en-US" dirty="0" smtClean="0"/>
              <a:t>Statistical Approach</a:t>
            </a:r>
          </a:p>
          <a:p>
            <a:pPr lvl="1"/>
            <a:r>
              <a:rPr lang="en-US" dirty="0" smtClean="0"/>
              <a:t>Central Limit Theorem</a:t>
            </a:r>
          </a:p>
          <a:p>
            <a:pPr lvl="1"/>
            <a:r>
              <a:rPr lang="en-US" dirty="0" smtClean="0"/>
              <a:t>Toy Example</a:t>
            </a:r>
          </a:p>
          <a:p>
            <a:pPr lvl="1"/>
            <a:r>
              <a:rPr lang="en-US" dirty="0" smtClean="0"/>
              <a:t>Large Number Theorem</a:t>
            </a:r>
          </a:p>
          <a:p>
            <a:r>
              <a:rPr lang="en-US" dirty="0" smtClean="0"/>
              <a:t>Program Language</a:t>
            </a:r>
          </a:p>
          <a:p>
            <a:r>
              <a:rPr lang="en-US" dirty="0" smtClean="0"/>
              <a:t>Future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681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B2AACE-037D-4228-A138-76E58396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A220982-2A73-4F40-BFB7-44DA6E680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55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What's a stock? </a:t>
            </a:r>
            <a:endParaRPr lang="en-US" dirty="0" smtClean="0"/>
          </a:p>
          <a:p>
            <a:pPr lvl="1"/>
            <a:r>
              <a:rPr lang="en-US" dirty="0"/>
              <a:t>Stocks are an investment in a company and that company's profits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Investors </a:t>
            </a:r>
            <a:r>
              <a:rPr lang="en-US" dirty="0"/>
              <a:t>buy stock to earn a return on their investment.</a:t>
            </a:r>
          </a:p>
          <a:p>
            <a:r>
              <a:rPr lang="en-US" dirty="0" smtClean="0"/>
              <a:t>why </a:t>
            </a:r>
            <a:r>
              <a:rPr lang="en-US" dirty="0"/>
              <a:t>should you own </a:t>
            </a:r>
            <a:r>
              <a:rPr lang="en-US" dirty="0" smtClean="0"/>
              <a:t>them?</a:t>
            </a:r>
          </a:p>
          <a:p>
            <a:pPr lvl="1"/>
            <a:r>
              <a:rPr lang="en-US" dirty="0" smtClean="0"/>
              <a:t>stocks </a:t>
            </a:r>
            <a:r>
              <a:rPr lang="en-US" dirty="0"/>
              <a:t>are a way to build wealth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Over the long term, the average annual stock market return is 10%; that average falls to between 7% and 8% after adjusting for inflation. That means $1,000 invested in stocks 30 years ago would be worth over $8,000 today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altLang="zh-CN" dirty="0" smtClean="0"/>
              <a:t>How </a:t>
            </a:r>
            <a:r>
              <a:rPr lang="en-US" altLang="zh-CN" dirty="0"/>
              <a:t>do they work</a:t>
            </a:r>
            <a:r>
              <a:rPr lang="en-US" altLang="zh-CN" dirty="0" smtClean="0"/>
              <a:t>?</a:t>
            </a:r>
          </a:p>
          <a:p>
            <a:pPr lvl="1"/>
            <a:r>
              <a:rPr lang="en-US" altLang="zh-CN" dirty="0" smtClean="0"/>
              <a:t>Companies </a:t>
            </a:r>
            <a:r>
              <a:rPr lang="en-US" altLang="zh-CN" dirty="0"/>
              <a:t>to issue shares in their stock through a process called an initial public offering, or IPO. </a:t>
            </a:r>
            <a:r>
              <a:rPr lang="en-US" altLang="zh-CN" dirty="0" smtClean="0"/>
              <a:t>Once </a:t>
            </a:r>
            <a:r>
              <a:rPr lang="en-US" altLang="zh-CN" dirty="0"/>
              <a:t>a company’s stock is on the market, it can be bought and sold among investors.</a:t>
            </a:r>
            <a:endParaRPr lang="en-US" altLang="zh-CN" dirty="0" smtClean="0"/>
          </a:p>
          <a:p>
            <a:r>
              <a:rPr lang="en-US" altLang="zh-CN" dirty="0" smtClean="0"/>
              <a:t>how </a:t>
            </a:r>
            <a:r>
              <a:rPr lang="en-US" altLang="zh-CN" dirty="0"/>
              <a:t>to invest in </a:t>
            </a:r>
            <a:r>
              <a:rPr lang="en-US" altLang="zh-CN" dirty="0" smtClean="0"/>
              <a:t>stocks?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7FA8743-C7BA-4131-9F80-B76C3C2C71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293060" y="546101"/>
            <a:ext cx="2060740" cy="151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5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98" y="495733"/>
            <a:ext cx="10582481" cy="23479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36519" y="3314700"/>
            <a:ext cx="99025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Price related factors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Current Price: Open, Close, High and Low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Price Change: </a:t>
            </a:r>
            <a:r>
              <a:rPr lang="en-US" dirty="0" err="1" smtClean="0"/>
              <a:t>Price_change</a:t>
            </a:r>
            <a:r>
              <a:rPr lang="en-US" dirty="0" smtClean="0"/>
              <a:t>, </a:t>
            </a:r>
            <a:r>
              <a:rPr lang="en-US" dirty="0" err="1" smtClean="0"/>
              <a:t>p_change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Average price: </a:t>
            </a:r>
            <a:r>
              <a:rPr lang="en-US" altLang="zh-CN" dirty="0" smtClean="0"/>
              <a:t>ma5, ma10, ma20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(ma5: moving average in 5 days = sum of first 5 day prices/5)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Volume related factors: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Volume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Turnover rate: volume / total number of shares issued × 100</a:t>
            </a:r>
            <a:r>
              <a:rPr lang="en-US" dirty="0" smtClean="0"/>
              <a:t>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Average volume</a:t>
            </a:r>
            <a:r>
              <a:rPr lang="en-US" dirty="0" smtClean="0"/>
              <a:t>: v_ma5, v_ma10, v_ma20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(v_ma5</a:t>
            </a:r>
            <a:r>
              <a:rPr lang="en-US" altLang="zh-CN" dirty="0"/>
              <a:t>: moving average </a:t>
            </a:r>
            <a:r>
              <a:rPr lang="en-US" altLang="zh-CN" dirty="0" smtClean="0"/>
              <a:t>of </a:t>
            </a:r>
            <a:r>
              <a:rPr lang="en-US" altLang="zh-CN" dirty="0" err="1" smtClean="0"/>
              <a:t>Volumn</a:t>
            </a:r>
            <a:r>
              <a:rPr lang="en-US" altLang="zh-CN" dirty="0" smtClean="0"/>
              <a:t> in </a:t>
            </a:r>
            <a:r>
              <a:rPr lang="en-US" altLang="zh-CN" dirty="0"/>
              <a:t>5 days = sum of first 5 day </a:t>
            </a:r>
            <a:r>
              <a:rPr lang="en-US" altLang="zh-CN" dirty="0" smtClean="0"/>
              <a:t>Volumes/5)</a:t>
            </a: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279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 and its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837709" cy="4351338"/>
          </a:xfrm>
        </p:spPr>
        <p:txBody>
          <a:bodyPr/>
          <a:lstStyle/>
          <a:p>
            <a:r>
              <a:rPr lang="en-US" b="1" dirty="0"/>
              <a:t>How can we identify features that are most informative of </a:t>
            </a:r>
            <a:r>
              <a:rPr lang="en-US" b="1" dirty="0" smtClean="0"/>
              <a:t>Stock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549" y="1305867"/>
            <a:ext cx="3967562" cy="455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461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A12A03B-3A4D-444C-B6FD-1FEA9FB49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Statistical Approach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960" y="1964315"/>
            <a:ext cx="9758796" cy="383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297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27" y="516947"/>
            <a:ext cx="7547264" cy="56604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72501" y="706582"/>
            <a:ext cx="31588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Algorithm:</a:t>
            </a:r>
          </a:p>
          <a:p>
            <a:pPr marL="342900" indent="-342900">
              <a:buAutoNum type="arabicPeriod"/>
            </a:pPr>
            <a:r>
              <a:rPr lang="en-US" dirty="0" smtClean="0"/>
              <a:t>Population: Each feature</a:t>
            </a:r>
          </a:p>
          <a:p>
            <a:pPr marL="342900" indent="-342900">
              <a:buAutoNum type="arabicPeriod"/>
            </a:pPr>
            <a:r>
              <a:rPr lang="en-US" dirty="0" smtClean="0"/>
              <a:t>Sampling with bootstrap </a:t>
            </a:r>
          </a:p>
          <a:p>
            <a:pPr marL="342900" indent="-342900">
              <a:buAutoNum type="arabicPeriod"/>
            </a:pPr>
            <a:r>
              <a:rPr lang="en-US" dirty="0" smtClean="0"/>
              <a:t>Calculate  Mean and SD</a:t>
            </a:r>
          </a:p>
          <a:p>
            <a:pPr marL="342900" indent="-342900">
              <a:buAutoNum type="arabicPeriod"/>
            </a:pPr>
            <a:r>
              <a:rPr lang="en-US" dirty="0" smtClean="0"/>
              <a:t>Pick those features with large SDs.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8769927" y="3377045"/>
            <a:ext cx="2992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Feature with Large SD means most informative.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194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12B2AF-B43B-4E38-BF79-989E2561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Toy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9040D681-820D-46F6-B53E-055DE5ECE2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2771166"/>
              </p:ext>
            </p:extLst>
          </p:nvPr>
        </p:nvGraphicFramePr>
        <p:xfrm>
          <a:off x="838200" y="1545071"/>
          <a:ext cx="10515600" cy="5029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3573">
                  <a:extLst>
                    <a:ext uri="{9D8B030D-6E8A-4147-A177-3AD203B41FA5}">
                      <a16:colId xmlns="" xmlns:a16="http://schemas.microsoft.com/office/drawing/2014/main" val="2117720012"/>
                    </a:ext>
                  </a:extLst>
                </a:gridCol>
                <a:gridCol w="2483573">
                  <a:extLst>
                    <a:ext uri="{9D8B030D-6E8A-4147-A177-3AD203B41FA5}">
                      <a16:colId xmlns="" xmlns:a16="http://schemas.microsoft.com/office/drawing/2014/main" val="1632325791"/>
                    </a:ext>
                  </a:extLst>
                </a:gridCol>
                <a:gridCol w="2484636">
                  <a:extLst>
                    <a:ext uri="{9D8B030D-6E8A-4147-A177-3AD203B41FA5}">
                      <a16:colId xmlns="" xmlns:a16="http://schemas.microsoft.com/office/drawing/2014/main" val="1396797431"/>
                    </a:ext>
                  </a:extLst>
                </a:gridCol>
                <a:gridCol w="3063818">
                  <a:extLst>
                    <a:ext uri="{9D8B030D-6E8A-4147-A177-3AD203B41FA5}">
                      <a16:colId xmlns="" xmlns:a16="http://schemas.microsoft.com/office/drawing/2014/main" val="290167239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Gender 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Education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Race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Financial status/ Output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107738064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College or Above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White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Middle class or above (1)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36622158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College or Above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Middle class or above (1)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268443164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Female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High School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Middle class or above (1)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247613811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High School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White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Lower class (0)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3966322918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Female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High School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Lower class (0)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3518839282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Female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College or Above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white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Middle class or above (1)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1337860846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College or Above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white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Middle class or above (1)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13867344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High School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Middle class or above (1)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286673725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Female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High School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Lower class (0)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4143794529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Female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College or Above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white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Middle class or above (1)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1334525765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Female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High School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Lower class (0)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18355031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College or Above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white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Middle class or above (1)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90834704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High School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white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Lower class (0)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1822979561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Female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College or Above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other</a:t>
                      </a:r>
                      <a:endParaRPr lang="en-US" sz="1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Middle class or above (1)</a:t>
                      </a:r>
                      <a:endParaRPr lang="en-U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3241" marR="63241" marT="0" marB="0"/>
                </a:tc>
                <a:extLst>
                  <a:ext uri="{0D108BD9-81ED-4DB2-BD59-A6C34878D82A}">
                    <a16:rowId xmlns="" xmlns:a16="http://schemas.microsoft.com/office/drawing/2014/main" val="355953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64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D15B001-C15E-4FC8-915E-148B88ED6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473" y="240434"/>
            <a:ext cx="2029691" cy="1325563"/>
          </a:xfrm>
        </p:spPr>
        <p:txBody>
          <a:bodyPr/>
          <a:lstStyle/>
          <a:p>
            <a:r>
              <a:rPr lang="en-US" dirty="0"/>
              <a:t>Gender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E7C47AFA-5A88-49F2-A249-16B45709EE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7209616"/>
              </p:ext>
            </p:extLst>
          </p:nvPr>
        </p:nvGraphicFramePr>
        <p:xfrm>
          <a:off x="847465" y="1344758"/>
          <a:ext cx="2869018" cy="37469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2445">
                  <a:extLst>
                    <a:ext uri="{9D8B030D-6E8A-4147-A177-3AD203B41FA5}">
                      <a16:colId xmlns="" xmlns:a16="http://schemas.microsoft.com/office/drawing/2014/main" val="2092652528"/>
                    </a:ext>
                  </a:extLst>
                </a:gridCol>
                <a:gridCol w="1326573">
                  <a:extLst>
                    <a:ext uri="{9D8B030D-6E8A-4147-A177-3AD203B41FA5}">
                      <a16:colId xmlns="" xmlns:a16="http://schemas.microsoft.com/office/drawing/2014/main" val="1242945717"/>
                    </a:ext>
                  </a:extLst>
                </a:gridCol>
              </a:tblGrid>
              <a:tr h="475412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Female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599549060"/>
                  </a:ext>
                </a:extLst>
              </a:tr>
              <a:tr h="461332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Middle </a:t>
                      </a:r>
                      <a:r>
                        <a:rPr lang="en-US" sz="1200" dirty="0" smtClean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Lower class (0)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885507809"/>
                  </a:ext>
                </a:extLst>
              </a:tr>
              <a:tr h="475412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Middle </a:t>
                      </a:r>
                      <a:r>
                        <a:rPr lang="en-US" sz="1200" dirty="0" smtClean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616961930"/>
                  </a:ext>
                </a:extLst>
              </a:tr>
              <a:tr h="461332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384409401"/>
                  </a:ext>
                </a:extLst>
              </a:tr>
              <a:tr h="475412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Middle </a:t>
                      </a:r>
                      <a:r>
                        <a:rPr lang="en-US" sz="1200" dirty="0" smtClean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502612091"/>
                  </a:ext>
                </a:extLst>
              </a:tr>
              <a:tr h="475412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274970210"/>
                  </a:ext>
                </a:extLst>
              </a:tr>
              <a:tr h="461332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Middle </a:t>
                      </a:r>
                      <a:r>
                        <a:rPr lang="en-US" sz="1200" dirty="0" smtClean="0">
                          <a:effectLst/>
                        </a:rPr>
                        <a:t>above </a:t>
                      </a:r>
                      <a:r>
                        <a:rPr lang="en-US" sz="1200" dirty="0">
                          <a:effectLst/>
                        </a:rPr>
                        <a:t>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122169840"/>
                  </a:ext>
                </a:extLst>
              </a:tr>
              <a:tr h="461332"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123524997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="" xmlns:a16="http://schemas.microsoft.com/office/drawing/2014/main" id="{5A33ED3C-8885-4836-B241-72E44C1622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54518781"/>
              </p:ext>
            </p:extLst>
          </p:nvPr>
        </p:nvGraphicFramePr>
        <p:xfrm>
          <a:off x="4714010" y="1344758"/>
          <a:ext cx="2975263" cy="40475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0535">
                  <a:extLst>
                    <a:ext uri="{9D8B030D-6E8A-4147-A177-3AD203B41FA5}">
                      <a16:colId xmlns="" xmlns:a16="http://schemas.microsoft.com/office/drawing/2014/main" val="1446691125"/>
                    </a:ext>
                  </a:extLst>
                </a:gridCol>
                <a:gridCol w="1454728">
                  <a:extLst>
                    <a:ext uri="{9D8B030D-6E8A-4147-A177-3AD203B41FA5}">
                      <a16:colId xmlns="" xmlns:a16="http://schemas.microsoft.com/office/drawing/2014/main" val="2502220394"/>
                    </a:ext>
                  </a:extLst>
                </a:gridCol>
              </a:tblGrid>
              <a:tr h="505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High School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College or Above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275575025"/>
                  </a:ext>
                </a:extLst>
              </a:tr>
              <a:tr h="505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48157395"/>
                  </a:ext>
                </a:extLst>
              </a:tr>
              <a:tr h="505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837816292"/>
                  </a:ext>
                </a:extLst>
              </a:tr>
              <a:tr h="505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4222624820"/>
                  </a:ext>
                </a:extLst>
              </a:tr>
              <a:tr h="505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(0)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 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159428824"/>
                  </a:ext>
                </a:extLst>
              </a:tr>
              <a:tr h="505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388348168"/>
                  </a:ext>
                </a:extLst>
              </a:tr>
              <a:tr h="505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70407419"/>
                  </a:ext>
                </a:extLst>
              </a:tr>
              <a:tr h="50593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572651712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="" xmlns:a16="http://schemas.microsoft.com/office/drawing/2014/main" id="{CFA683CD-0A0E-4B0F-AADD-2753AC81D2D7}"/>
              </a:ext>
            </a:extLst>
          </p:cNvPr>
          <p:cNvSpPr txBox="1">
            <a:spLocks/>
          </p:cNvSpPr>
          <p:nvPr/>
        </p:nvSpPr>
        <p:spPr>
          <a:xfrm>
            <a:off x="4978977" y="240434"/>
            <a:ext cx="244532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Education</a:t>
            </a:r>
            <a:endParaRPr lang="en-US" dirty="0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="" xmlns:a16="http://schemas.microsoft.com/office/drawing/2014/main" id="{7400FB9B-D719-44D2-AACA-C45002686EA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5293414"/>
              </p:ext>
            </p:extLst>
          </p:nvPr>
        </p:nvGraphicFramePr>
        <p:xfrm>
          <a:off x="8453530" y="1344758"/>
          <a:ext cx="3101161" cy="3856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1743">
                  <a:extLst>
                    <a:ext uri="{9D8B030D-6E8A-4147-A177-3AD203B41FA5}">
                      <a16:colId xmlns="" xmlns:a16="http://schemas.microsoft.com/office/drawing/2014/main" val="1654050719"/>
                    </a:ext>
                  </a:extLst>
                </a:gridCol>
                <a:gridCol w="1579418">
                  <a:extLst>
                    <a:ext uri="{9D8B030D-6E8A-4147-A177-3AD203B41FA5}">
                      <a16:colId xmlns="" xmlns:a16="http://schemas.microsoft.com/office/drawing/2014/main" val="2927462919"/>
                    </a:ext>
                  </a:extLst>
                </a:gridCol>
              </a:tblGrid>
              <a:tr h="48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White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Other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022604390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709939757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58494239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954629967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150310456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2099845416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effectLst/>
                        </a:rPr>
                        <a:t>Middle </a:t>
                      </a:r>
                      <a:r>
                        <a:rPr lang="en-US" sz="1200" dirty="0">
                          <a:effectLst/>
                        </a:rPr>
                        <a:t>above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Lower class (0)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207585177"/>
                  </a:ext>
                </a:extLst>
              </a:tr>
              <a:tr h="48204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Lower class (0)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Middle Class (1)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="" xmlns:a16="http://schemas.microsoft.com/office/drawing/2014/main" val="3569557192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="" xmlns:a16="http://schemas.microsoft.com/office/drawing/2014/main" id="{BA67A09E-717E-44C2-BD35-E27287A76575}"/>
              </a:ext>
            </a:extLst>
          </p:cNvPr>
          <p:cNvSpPr txBox="1">
            <a:spLocks/>
          </p:cNvSpPr>
          <p:nvPr/>
        </p:nvSpPr>
        <p:spPr>
          <a:xfrm>
            <a:off x="9311382" y="473365"/>
            <a:ext cx="1385455" cy="8713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Race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="" xmlns:a16="http://schemas.microsoft.com/office/drawing/2014/main" id="{B2EC981F-53D0-4335-906B-1A20FB9C1A49}"/>
              </a:ext>
            </a:extLst>
          </p:cNvPr>
          <p:cNvSpPr txBox="1">
            <a:spLocks/>
          </p:cNvSpPr>
          <p:nvPr/>
        </p:nvSpPr>
        <p:spPr>
          <a:xfrm>
            <a:off x="1039091" y="5530317"/>
            <a:ext cx="10515600" cy="865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We can conclude base off our data that education has the strongest effect on the financial status of a individual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979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Law of Large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Let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,…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be an independent number of observation process, with finite expected value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and finite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i="1" dirty="0"/>
              </a:p>
              <a:p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𝐿𝑒𝑡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Then for any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endParaRPr lang="en-US" i="1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)→0</m:t>
                    </m:r>
                  </m:oMath>
                </a14:m>
                <a:endParaRPr lang="en-US" dirty="0"/>
              </a:p>
              <a:p>
                <a:endParaRPr lang="en-US" i="1" dirty="0"/>
              </a:p>
              <a:p>
                <a:endParaRPr lang="en-US" i="1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81284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683" y="566303"/>
            <a:ext cx="10010134" cy="524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8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D14CDA6-9E37-4EA3-B727-B0541FE86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744"/>
            <a:ext cx="10515600" cy="1325563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996E3352-0E14-4284-820B-649A71926B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4516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 </a:t>
                </a:r>
              </a:p>
              <a:p>
                <a:r>
                  <a:rPr lang="en-US" dirty="0" smtClean="0"/>
                  <a:t>Apply this approach on real stock data (Amazon)</a:t>
                </a:r>
              </a:p>
              <a:p>
                <a:r>
                  <a:rPr lang="en-US" dirty="0"/>
                  <a:t>A</a:t>
                </a:r>
                <a:r>
                  <a:rPr lang="en-US" dirty="0" smtClean="0"/>
                  <a:t>dd Log Return Concepts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(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den>
                            </m:f>
                          </m:e>
                        </m:func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 ln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 - ln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) </a:t>
                </a:r>
              </a:p>
              <a:p>
                <a:pPr lvl="2"/>
                <a:r>
                  <a:rPr lang="en-US" dirty="0"/>
                  <a:t>returns that are time additive 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current closing price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r>
                  <a:rPr lang="en-US" dirty="0"/>
                  <a:t>is the previous closing price in the stock market</a:t>
                </a:r>
              </a:p>
              <a:p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xmlns="" id="{996E3352-0E14-4284-820B-649A71926B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4516"/>
                <a:ext cx="10515600" cy="4351338"/>
              </a:xfrm>
              <a:blipFill rotWithShape="0"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2694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FB2D534-8EA4-42C6-8E82-844B78D03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B8E6EEE-6A40-4CA7-8BC8-ED1C7C42B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 smtClean="0"/>
              <a:t>Xiuquan</a:t>
            </a:r>
            <a:r>
              <a:rPr lang="en-US" dirty="0" smtClean="0"/>
              <a:t> </a:t>
            </a:r>
            <a:r>
              <a:rPr lang="en-US" dirty="0"/>
              <a:t>Wang</a:t>
            </a:r>
          </a:p>
          <a:p>
            <a:r>
              <a:rPr lang="en-US" dirty="0" err="1"/>
              <a:t>Tougaloo</a:t>
            </a:r>
            <a:r>
              <a:rPr lang="en-US" dirty="0"/>
              <a:t> College</a:t>
            </a:r>
          </a:p>
        </p:txBody>
      </p:sp>
    </p:spTree>
    <p:extLst>
      <p:ext uri="{BB962C8B-B14F-4D97-AF65-F5344CB8AC3E}">
        <p14:creationId xmlns:p14="http://schemas.microsoft.com/office/powerpoint/2010/main" val="2561137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6FE8523-94D3-45B0-A4A3-C76922BF2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Question?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C71934FA-BCDD-43F5-879D-67E333D7D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37270" y="1912405"/>
            <a:ext cx="9917460" cy="4177778"/>
          </a:xfr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FCCD8FF-EE73-457B-B5DE-87947E252394}"/>
              </a:ext>
            </a:extLst>
          </p:cNvPr>
          <p:cNvSpPr txBox="1"/>
          <p:nvPr/>
        </p:nvSpPr>
        <p:spPr>
          <a:xfrm>
            <a:off x="1137270" y="6090183"/>
            <a:ext cx="991746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://www.pngall.com/thank-you-png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/3.0/"/>
              </a:rPr>
              <a:t>CC BY-NC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259199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2640</TotalTime>
  <Words>747</Words>
  <Application>Microsoft Office PowerPoint</Application>
  <PresentationFormat>Widescreen</PresentationFormat>
  <Paragraphs>176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宋体</vt:lpstr>
      <vt:lpstr>Arial</vt:lpstr>
      <vt:lpstr>Calibri</vt:lpstr>
      <vt:lpstr>Calibri Light</vt:lpstr>
      <vt:lpstr>Cambria Math</vt:lpstr>
      <vt:lpstr>Times New Roman</vt:lpstr>
      <vt:lpstr>Office Theme</vt:lpstr>
      <vt:lpstr>A Statistical Approach for Stock Data Analysis</vt:lpstr>
      <vt:lpstr>Outline</vt:lpstr>
      <vt:lpstr>Introduction</vt:lpstr>
      <vt:lpstr>PowerPoint Presentation</vt:lpstr>
      <vt:lpstr>Goal and its Process</vt:lpstr>
      <vt:lpstr>Statistical Approach</vt:lpstr>
      <vt:lpstr>PowerPoint Presentation</vt:lpstr>
      <vt:lpstr>Toy Example</vt:lpstr>
      <vt:lpstr>Gender</vt:lpstr>
      <vt:lpstr>Law of Large Numbers</vt:lpstr>
      <vt:lpstr>PowerPoint Presentation</vt:lpstr>
      <vt:lpstr>Future Work</vt:lpstr>
      <vt:lpstr>Acknowledgments </vt:lpstr>
      <vt:lpstr>Question?</vt:lpstr>
    </vt:vector>
  </TitlesOfParts>
  <Company>Tougaloo College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Central Limit Theorem</dc:title>
  <dc:creator>Barkley, Dedrick</dc:creator>
  <cp:lastModifiedBy>user</cp:lastModifiedBy>
  <cp:revision>66</cp:revision>
  <dcterms:created xsi:type="dcterms:W3CDTF">2020-01-16T20:36:59Z</dcterms:created>
  <dcterms:modified xsi:type="dcterms:W3CDTF">2020-04-15T00:01:26Z</dcterms:modified>
</cp:coreProperties>
</file>